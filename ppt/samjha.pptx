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600" b="1">
                <a:solidFill>
                  <a:srgbClr val="F2F5FB"/>
                </a:solidFill>
                <a:latin typeface="Helvetica Neue"/>
              </a:rPr>
              <a:t>SAMJHA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4000" b="0">
                <a:solidFill>
                  <a:srgbClr val="1DB954"/>
                </a:solidFill>
                <a:latin typeface="Kohinoor Devanagari"/>
              </a:rPr>
              <a:t>समझा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977639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200" b="0">
                <a:solidFill>
                  <a:srgbClr val="98A1B6"/>
                </a:solidFill>
                <a:latin typeface="Helvetica Neue"/>
              </a:rPr>
              <a:t>Voice-native informed consent for Indian retail lending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663440"/>
            <a:ext cx="2011680" cy="19050"/>
          </a:xfrm>
          <a:prstGeom prst="rect">
            <a:avLst/>
          </a:prstGeom>
          <a:solidFill>
            <a:srgbClr val="1DB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93776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2F5FB"/>
                </a:solidFill>
                <a:latin typeface="Helvetica Neue"/>
              </a:rPr>
              <a:t>RBI Key Facts Statement, read aloud in Hindi, clause by clause —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F2F5FB"/>
                </a:solidFill>
                <a:latin typeface="Helvetica Neue"/>
              </a:rPr>
              <a:t>with proof of what she actually heard.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98A1B6"/>
                </a:solidFill>
                <a:latin typeface="Menlo"/>
              </a:rPr>
              <a:t>DataForge × Pathway × Rime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8A1B6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F2F5FB"/>
                </a:solidFill>
                <a:latin typeface="Helvetica Neue"/>
              </a:rPr>
              <a:t>She acknowledges a document she cannot read.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72768"/>
            <a:ext cx="1463040" cy="19050"/>
          </a:xfrm>
          <a:prstGeom prst="rect">
            <a:avLst/>
          </a:prstGeom>
          <a:solidFill>
            <a:srgbClr val="1DB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F2F5FB"/>
                </a:solidFill>
                <a:latin typeface="Helvetica Neue"/>
              </a:rPr>
              <a:t>·  RBI mandates a Key Facts Statement for every retail loan — in a language the borrower understands, with informed acknowledgement.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F2F5FB"/>
                </a:solidFill>
                <a:latin typeface="Helvetica Neue"/>
              </a:rPr>
              <a:t>·  In practice: the lender emails a PDF and collects an OTP.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4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F2F5FB"/>
                </a:solidFill>
                <a:latin typeface="Helvetica Neue"/>
              </a:rPr>
              <a:t>·  The loan was sold on a phone call. There is no screen, and she has low reading fluency.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663440"/>
            <a:ext cx="10698480" cy="19050"/>
          </a:xfrm>
          <a:prstGeom prst="rect">
            <a:avLst/>
          </a:prstGeom>
          <a:solidFill>
            <a:srgbClr val="24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93776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1">
                <a:solidFill>
                  <a:srgbClr val="FFB020"/>
                </a:solidFill>
                <a:latin typeface="Helvetica Neue"/>
              </a:rPr>
              <a:t>The regulation is satisfied. The borrower is not informed.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98A1B6"/>
                </a:solidFill>
                <a:latin typeface="Helvetica Neue"/>
              </a:rPr>
              <a:t>Remove speech and the product does not degrade — it ceases to exist.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8A1B6"/>
                </a:solidFill>
                <a:latin typeface="Helvetica Neue"/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F2F5FB"/>
                </a:solidFill>
                <a:latin typeface="Helvetica Neue"/>
              </a:rPr>
              <a:t>A document goes in. A defensible consent record comes 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72768"/>
            <a:ext cx="1463040" cy="19050"/>
          </a:xfrm>
          <a:prstGeom prst="rect">
            <a:avLst/>
          </a:prstGeom>
          <a:solidFill>
            <a:srgbClr val="1DB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65836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600" b="0">
                <a:solidFill>
                  <a:srgbClr val="F2F5FB"/>
                </a:solidFill>
                <a:latin typeface="Menlo"/>
              </a:rPr>
              <a:t>KFS  (PDF or Word)</a:t>
            </a:r>
          </a:p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600" b="0">
                <a:solidFill>
                  <a:srgbClr val="F2F5FB"/>
                </a:solidFill>
                <a:latin typeface="Menlo"/>
              </a:rPr>
              <a:t>   →  deterministic table parse, no OCR, no model in the loop</a:t>
            </a:r>
          </a:p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600" b="0">
                <a:solidFill>
                  <a:srgbClr val="F2F5FB"/>
                </a:solidFill>
                <a:latin typeface="Menlo"/>
              </a:rPr>
              <a:t>   →  Hindi clauses, ONE key value per spoken segment</a:t>
            </a:r>
          </a:p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600" b="0">
                <a:solidFill>
                  <a:srgbClr val="F2F5FB"/>
                </a:solidFill>
                <a:latin typeface="Menlo"/>
              </a:rPr>
              <a:t>   →  Rime Coda over /ws3, 8 kHz μ-law</a:t>
            </a:r>
          </a:p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600" b="0">
                <a:solidFill>
                  <a:srgbClr val="F2F5FB"/>
                </a:solidFill>
                <a:latin typeface="Menlo"/>
              </a:rPr>
              <a:t>   →  LiveKit to her phone · Sarvam for her replies</a:t>
            </a:r>
          </a:p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600" b="0">
                <a:solidFill>
                  <a:srgbClr val="F2F5FB"/>
                </a:solidFill>
                <a:latin typeface="Menlo"/>
              </a:rPr>
              <a:t>   →  consent FSM: heard → teach-back → understood</a:t>
            </a:r>
          </a:p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600" b="0">
                <a:solidFill>
                  <a:srgbClr val="F2F5FB"/>
                </a:solidFill>
                <a:latin typeface="Menlo"/>
              </a:rPr>
              <a:t>   →  sha256-sealed record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19659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DB954"/>
                </a:solidFill>
                <a:latin typeface="Helvetica Neue"/>
              </a:rPr>
              <a:t>Three surfaces, three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2468880"/>
            <a:ext cx="402336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98A1B6"/>
                </a:solidFill>
                <a:latin typeface="Helvetica Neue"/>
              </a:rPr>
              <a:t>·  /            the judge's evidence panel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2944368"/>
            <a:ext cx="402336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98A1B6"/>
                </a:solidFill>
                <a:latin typeface="Helvetica Neue"/>
              </a:rPr>
              <a:t>·  /intake      the officer's review desk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3419856"/>
            <a:ext cx="402336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F2F5FB"/>
                </a:solidFill>
                <a:latin typeface="Helvetica Neue"/>
              </a:rPr>
              <a:t>·  /c/{id}      THE BORROWER — one tap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114800"/>
            <a:ext cx="39319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8A1B6"/>
                </a:solidFill>
                <a:latin typeface="Helvetica Neue"/>
              </a:rPr>
              <a:t>Choosing a PDF off a filesystem is itself a reading task, so the borrower does not do it. The record names who did (uploaded_by_role). Her part begins at “take the call”.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8A1B6"/>
                </a:solidFill>
                <a:latin typeface="Helvetica Neue"/>
              </a:rPr>
              <a:t>THE OFFICER'S DESK  ·  /INTAKE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F2F5FB"/>
                </a:solidFill>
                <a:latin typeface="Helvetica Neue"/>
              </a:rPr>
              <a:t>Nothing is ever guessed.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72768"/>
            <a:ext cx="1463040" cy="19050"/>
          </a:xfrm>
          <a:prstGeom prst="rect">
            <a:avLst/>
          </a:prstGeom>
          <a:solidFill>
            <a:srgbClr val="1DB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take_clau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74519"/>
            <a:ext cx="6400800" cy="4000500"/>
          </a:xfrm>
          <a:prstGeom prst="rect">
            <a:avLst/>
          </a:prstGeom>
          <a:ln w="12700">
            <a:solidFill>
              <a:srgbClr val="242A3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31520" y="5984747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98A1B6"/>
                </a:solidFill>
                <a:latin typeface="Helvetica Neue"/>
              </a:rPr>
              <a:t>The Hindi that will actually be spoken, with each value's spoken 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201168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F2F5FB"/>
                </a:solidFill>
                <a:latin typeface="Helvetica Neue"/>
              </a:rPr>
              <a:t>·  A lender's own wording is absorbed — “APR (%)”, “Loan Proposal No.”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92608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FFB020"/>
                </a:solidFill>
                <a:latin typeface="Helvetica Neue"/>
              </a:rPr>
              <a:t>·  A label we do not recognise is REPORTED, never folded into a real 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384048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FFB020"/>
                </a:solidFill>
                <a:latin typeface="Helvetica Neue"/>
              </a:rPr>
              <a:t>·  A required field the document lacks BLOCKS the call until a human types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4937760"/>
            <a:ext cx="4114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8A1B6"/>
                </a:solidFill>
                <a:latin typeface="Helvetica Neue"/>
              </a:rPr>
              <a:t>Because a missing cooling-off period would otherwise default to 0 — and be read aloud as “इस लोन में कूलिंग-ऑफ की अवधि नहीं है”, denying a statutory right the document may well grant.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8A1B6"/>
                </a:solidFill>
                <a:latin typeface="Helvetica Neue"/>
              </a:rPr>
              <a:t>THE BORROWER  ·  /C/{CALL_ID}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F2F5FB"/>
                </a:solidFill>
                <a:latin typeface="Helvetica Neue"/>
              </a:rPr>
              <a:t>One tap. Everything else is spoken.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72768"/>
            <a:ext cx="1463040" cy="19050"/>
          </a:xfrm>
          <a:prstGeom prst="rect">
            <a:avLst/>
          </a:prstGeom>
          <a:solidFill>
            <a:srgbClr val="1DB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orrower_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5120640" cy="3200400"/>
          </a:xfrm>
          <a:prstGeom prst="rect">
            <a:avLst/>
          </a:prstGeom>
          <a:ln w="12700">
            <a:solidFill>
              <a:srgbClr val="242A3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09360" y="201168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F2F5FB"/>
                </a:solidFill>
                <a:latin typeface="Helvetica Neue"/>
              </a:rPr>
              <a:t>·  No file input. No text input. No navigation.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2608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F2F5FB"/>
                </a:solidFill>
                <a:latin typeface="Helvetica Neue"/>
              </a:rPr>
              <a:t>·  Digits are large, because a digit is not reading — ₹65,000 is legible to someone who cannot read a sentence.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384048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F2F5FB"/>
                </a:solidFill>
                <a:latin typeface="Helvetica Neue"/>
              </a:rPr>
              <a:t>·  Every instruction is spoken in Hindi, by the same Rime voice that is about to read her loan.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475488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F2F5FB"/>
                </a:solidFill>
                <a:latin typeface="Helvetica Neue"/>
              </a:rPr>
              <a:t>·  Refusal is amber, never red: if refusal looks like rejection, she learns the honest path is the punished 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8A1B6"/>
                </a:solidFill>
                <a:latin typeface="Helvetica Neue"/>
              </a:rPr>
              <a:t>THE MECHANIC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F2F5FB"/>
                </a:solidFill>
                <a:latin typeface="Helvetica Neue"/>
              </a:rPr>
              <a:t>“Heard” means the segment carrying the number finished.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72768"/>
            <a:ext cx="1463040" cy="19050"/>
          </a:xfrm>
          <a:prstGeom prst="rect">
            <a:avLst/>
          </a:prstGeom>
          <a:solidFill>
            <a:srgbClr val="1DB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5852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700" b="0">
                <a:solidFill>
                  <a:srgbClr val="1DB954"/>
                </a:solidFill>
                <a:latin typeface="Menlo"/>
              </a:rPr>
              <a:t>μ-law at 8 kHz is 1 byte per sample.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700" b="0">
                <a:solidFill>
                  <a:srgbClr val="1DB954"/>
                </a:solidFill>
                <a:latin typeface="Menlo"/>
              </a:rPr>
              <a:t>8000 bytes = 1.000 s, exactly — not an estimate.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63240"/>
            <a:ext cx="58521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F2F5FB"/>
                </a:solidFill>
                <a:latin typeface="Helvetica Neue"/>
              </a:rPr>
              <a:t>One comprehension-critical value per flush segment. So “did she hear the APR?” reduces to “did segment k finish playing?” — arithmetic over Rime's own byte counts.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F2F5FB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F2F5FB"/>
                </a:solidFill>
                <a:latin typeface="Helvetica Neue"/>
              </a:rPr>
              <a:t>It needs no vendor word timestamps, which Rime does not emit for Hindi anyway. It works in any language.</a:t>
            </a:r>
          </a:p>
        </p:txBody>
      </p:sp>
      <p:pic>
        <p:nvPicPr>
          <p:cNvPr id="7" name="Picture 6" descr="after_barge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920240"/>
            <a:ext cx="4572000" cy="2857500"/>
          </a:xfrm>
          <a:prstGeom prst="rect">
            <a:avLst/>
          </a:prstGeom>
          <a:ln w="12700">
            <a:solidFill>
              <a:srgbClr val="242A3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949440" y="48920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>
                <a:solidFill>
                  <a:srgbClr val="98A1B6"/>
                </a:solidFill>
                <a:latin typeface="Helvetica Neue"/>
              </a:rPr>
              <a:t>Barge-in mid-number: the clause goes PARTIALLY_HEARD and is re-read from the start — never resumed.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8A1B6"/>
                </a:solidFill>
                <a:latin typeface="Helvetica Neue"/>
              </a:rPr>
              <a:t>THE ARTIFACT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F2F5FB"/>
                </a:solidFill>
                <a:latin typeface="Helvetica Neue"/>
              </a:rPr>
              <a:t>A refusal is a row, not an error.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72768"/>
            <a:ext cx="1463040" cy="19050"/>
          </a:xfrm>
          <a:prstGeom prst="rect">
            <a:avLst/>
          </a:prstGeom>
          <a:solidFill>
            <a:srgbClr val="1DB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74519"/>
            <a:ext cx="6949440" cy="3257550"/>
          </a:xfrm>
          <a:prstGeom prst="rect">
            <a:avLst/>
          </a:prstGeom>
          <a:ln w="12700">
            <a:solidFill>
              <a:srgbClr val="242A3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863840" y="2011680"/>
            <a:ext cx="3749039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FFB020"/>
                </a:solidFill>
                <a:latin typeface="Helvetica Neue"/>
              </a:rPr>
              <a:t>·  96.6% of the clause played — and the account number still counts as NOT heard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2971800"/>
            <a:ext cx="3749039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F2F5FB"/>
                </a:solidFill>
                <a:latin typeface="Helvetica Neue"/>
              </a:rPr>
              <a:t>·  Its segment did not finish, so it was never communicated.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3931920"/>
            <a:ext cx="3749039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FF5C5C"/>
                </a:solidFill>
                <a:latin typeface="Helvetica Neue"/>
              </a:rPr>
              <a:t>·  Consent REFUSED · flagged for human callback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4892040"/>
            <a:ext cx="3749039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F2F5FB"/>
                </a:solidFill>
                <a:latin typeface="Helvetica Neue"/>
              </a:rPr>
              <a:t>·  sha256 over a canonical serialisation; provenance of the source document is inside the hash.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8A1B6"/>
                </a:solidFill>
                <a:latin typeface="Helvetica Neue"/>
              </a:rPr>
              <a:t>THE MEASURED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F2F5FB"/>
                </a:solidFill>
                <a:latin typeface="Helvetica Neue"/>
              </a:rPr>
              <a:t>Value Error Rate on account identifiers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72768"/>
            <a:ext cx="1463040" cy="19050"/>
          </a:xfrm>
          <a:prstGeom prst="rect">
            <a:avLst/>
          </a:prstGeom>
          <a:solidFill>
            <a:srgbClr val="1DB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5800" b="1">
                <a:solidFill>
                  <a:srgbClr val="1DB954"/>
                </a:solidFill>
                <a:latin typeface="Helvetica Neue"/>
              </a:rPr>
              <a:t>100% → 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98A1B6"/>
                </a:solidFill>
                <a:latin typeface="Helvetica Neue"/>
              </a:rPr>
              <a:t>Deepgram nova-3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5800" b="1">
                <a:solidFill>
                  <a:srgbClr val="1DB954"/>
                </a:solidFill>
                <a:latin typeface="Helvetica Neue"/>
              </a:rPr>
              <a:t>75% → 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98A1B6"/>
                </a:solidFill>
                <a:latin typeface="Helvetica Neue"/>
              </a:rPr>
              <a:t>Sarvam saaras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98A1B6"/>
                </a:solidFill>
                <a:latin typeface="Helvetica Neue"/>
              </a:rPr>
              <a:t>8 kHz μ-law channel · modelId, speaker, lang, samplingRate and timeScaleFactor held constant · both arms are Rime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572000"/>
            <a:ext cx="10058400" cy="1905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FFB020"/>
                </a:solidFill>
                <a:latin typeface="Helvetica Neue"/>
              </a:rPr>
              <a:t>Read that with its 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2064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98A1B6"/>
                </a:solidFill>
                <a:latin typeface="Helvetica Neue"/>
              </a:rPr>
              <a:t>The published run is 24 utterances — 4 per category — not the 120 / 20 pre-registered in evals/ACCEPTANCE.md. The direction and the mechanism are what the committed per-row evidence supports; the exact percentages rest on n=4 and should be expected to move on a full run.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98A1B6"/>
                </a:solidFill>
                <a:latin typeface="Helvetica Neue"/>
              </a:rPr>
              <a:t>Four of six categories show NO effect, and are reported as the negative result they are.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8A1B6"/>
                </a:solidFill>
                <a:latin typeface="Helvetica Neue"/>
              </a:rPr>
              <a:t>RIME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F2F5FB"/>
                </a:solidFill>
                <a:latin typeface="Helvetica Neue"/>
              </a:rPr>
              <a:t>Four things we measured rather than assumed.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72768"/>
            <a:ext cx="1463040" cy="19050"/>
          </a:xfrm>
          <a:prstGeom prst="rect">
            <a:avLst/>
          </a:prstGeom>
          <a:solidFill>
            <a:srgbClr val="1DB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88136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F2F5FB"/>
                </a:solidFill>
                <a:latin typeface="Helvetica Neue"/>
              </a:rPr>
              <a:t>·  No word timestamps in Hindi, and it fails SILENTLY. With lang omitted they do appear — but are byte-identical across sample rates while duration is not. Unusable. So we use our own flush boundaries.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88136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F2F5FB"/>
                </a:solidFill>
                <a:latin typeface="Helvetica Neue"/>
              </a:rPr>
              <a:t>·  No cancel primitive. `clear` does not cancel in-flight synthesis and contextId came back null on every frame. Barge-in closes the socket, with a warm spare.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1088136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F2F5FB"/>
                </a:solidFill>
                <a:latin typeface="Helvetica Neue"/>
              </a:rPr>
              <a:t>·  The Rime LiveKit plugin hardcodes audioFormat=pcm, so 8 kHz μ-law is unreachable through it. Clause audio goes through our own /ws3 client.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74919"/>
            <a:ext cx="1088136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FFB020"/>
                </a:solidFill>
                <a:latin typeface="Helvetica Neue"/>
              </a:rPr>
              <a:t>·  /ws3 has NO per-flush completion event — only `chunk` and `done`. Pipeline the flushes and every chunk is attributed to segment 0. You must read each flush's `done` before sending the next. This one bit us in production.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26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98A1B6"/>
                </a:solidFill>
                <a:latin typeface="Menlo"/>
              </a:rPr>
              <a:t>Config: coda / taru / hi · mulaw 8000 · segment=never + explicit flush · timeScaleFactor 1.0, speedAlpha never sent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8A1B6"/>
                </a:solidFill>
                <a:latin typeface="Helvetica Neue"/>
              </a:rPr>
              <a:t>WHAT WE DO NOT CLAIM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FFB020"/>
                </a:solidFill>
                <a:latin typeface="Helvetica Neue"/>
              </a:rPr>
              <a:t>Stated before the results, not after.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72768"/>
            <a:ext cx="1463040" cy="19050"/>
          </a:xfrm>
          <a:prstGeom prst="rect">
            <a:avLst/>
          </a:prstGeom>
          <a:solidFill>
            <a:srgbClr val="1DB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88136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98A1B6"/>
                </a:solidFill>
                <a:latin typeface="Helvetica Neue"/>
              </a:rPr>
              <a:t>·  The telephone channel is SIMULATED. No live PSTN leg has been validated.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1088136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98A1B6"/>
                </a:solidFill>
                <a:latin typeface="Helvetica Neue"/>
              </a:rPr>
              <a:t>·  “Heard” means played out of the speaker, ± the client jitter buffer. We measure playout, not cognition.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18104"/>
            <a:ext cx="1088136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98A1B6"/>
                </a:solidFill>
                <a:latin typeface="Helvetica Neue"/>
              </a:rPr>
              <a:t>·  Hindi only, and it cannot currently be otherwise — Coda is the only Rime model with Hindi at 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94176"/>
            <a:ext cx="1088136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98A1B6"/>
                </a:solidFill>
                <a:latin typeface="Helvetica Neue"/>
              </a:rPr>
              <a:t>·  Document upload reads TABLES, not pictures. A photographed KFS is refused, not guessed 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70248"/>
            <a:ext cx="1088136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98A1B6"/>
                </a:solidFill>
                <a:latin typeface="Helvetica Neue"/>
              </a:rPr>
              <a:t>·  The synonym table that absorbs a lender's wording is a hypothesis — there is no real lender's KFS in this repo to test it against.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1088136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98A1B6"/>
                </a:solidFill>
                <a:latin typeface="Helvetica Neue"/>
              </a:rPr>
              <a:t>·  No authentication. A call link is a bearer capability.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22392"/>
            <a:ext cx="1088136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98A1B6"/>
                </a:solidFill>
                <a:latin typeface="Helvetica Neue"/>
              </a:rPr>
              <a:t>·  n = 24 on the published eval; the human listening panel has not been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98A1B6"/>
                </a:solidFill>
                <a:latin typeface="Helvetica Neue"/>
              </a:rPr>
              <a:t>RUN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200" b="1">
                <a:solidFill>
                  <a:srgbClr val="F2F5FB"/>
                </a:solidFill>
                <a:latin typeface="Helvetica Neue"/>
              </a:rPr>
              <a:t>421 tests, and none of the first four need a key.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72768"/>
            <a:ext cx="1463040" cy="19050"/>
          </a:xfrm>
          <a:prstGeom prst="rect">
            <a:avLst/>
          </a:prstGeom>
          <a:solidFill>
            <a:srgbClr val="1DB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0">
                <a:solidFill>
                  <a:srgbClr val="F2F5FB"/>
                </a:solidFill>
                <a:latin typeface="Menlo"/>
              </a:rPr>
              <a:t>uv sync                # builds .venv from uv.lock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0">
                <a:solidFill>
                  <a:srgbClr val="F2F5FB"/>
                </a:solidFill>
                <a:latin typeface="Menlo"/>
              </a:rPr>
              <a:t>cp .env.example .env   # RIME_API_KEY is the only one you truly need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0">
                <a:solidFill>
                  <a:srgbClr val="F2F5FB"/>
                </a:solidFill>
                <a:latin typeface="Menlo"/>
              </a:rPr>
              <a:t/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0">
                <a:solidFill>
                  <a:srgbClr val="F2F5FB"/>
                </a:solidFill>
                <a:latin typeface="Menlo"/>
              </a:rPr>
              <a:t>make test              # 421 tests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0">
                <a:solidFill>
                  <a:srgbClr val="F2F5FB"/>
                </a:solidFill>
                <a:latin typeface="Menlo"/>
              </a:rPr>
              <a:t>make demo-fixtures     # barge-in and rushed consent, offline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0">
                <a:solidFill>
                  <a:srgbClr val="F2F5FB"/>
                </a:solidFill>
                <a:latin typeface="Menlo"/>
              </a:rPr>
              <a:t>make channel           # the 8 kHz μ-law chain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0">
                <a:solidFill>
                  <a:srgbClr val="F2F5FB"/>
                </a:solidFill>
                <a:latin typeface="Menlo"/>
              </a:rPr>
              <a:t>make secrets           # no credential ever touched git history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0">
                <a:solidFill>
                  <a:srgbClr val="F2F5FB"/>
                </a:solidFill>
                <a:latin typeface="Menlo"/>
              </a:rPr>
              <a:t/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0">
                <a:solidFill>
                  <a:srgbClr val="F2F5FB"/>
                </a:solidFill>
                <a:latin typeface="Menlo"/>
              </a:rPr>
              <a:t>make serve             # terminal 1 — /, /intake, /c/{id}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0">
                <a:solidFill>
                  <a:srgbClr val="F2F5FB"/>
                </a:solidFill>
                <a:latin typeface="Menlo"/>
              </a:rPr>
              <a:t>make agent             # terminal 2 — the consent worker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0">
                <a:solidFill>
                  <a:srgbClr val="F2F5FB"/>
                </a:solidFill>
                <a:latin typeface="Menlo"/>
              </a:rPr>
              <a:t/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0">
                <a:solidFill>
                  <a:srgbClr val="F2F5FB"/>
                </a:solidFill>
                <a:latin typeface="Menlo"/>
              </a:rPr>
              <a:t>make e2e ARGS="--drive"   # upload → Rime → FSM → assert the sealed record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978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98A1B6"/>
                </a:solidFill>
                <a:latin typeface="Helvetica Neue"/>
              </a:rPr>
              <a:t>Every performance number is backed by a committed artifact under evals/results/. ffmpeg is the one non-Python prerequisite.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4000" b="1">
                <a:solidFill>
                  <a:srgbClr val="F2F5FB"/>
                </a:solidFill>
                <a:latin typeface="Helvetica Neue"/>
              </a:rPr>
              <a:t>Remove speech and the product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4000" b="1">
                <a:solidFill>
                  <a:srgbClr val="F2F5FB"/>
                </a:solidFill>
                <a:latin typeface="Helvetica Neue"/>
              </a:rPr>
              <a:t>does not degrade — it ceases to exist.</a:t>
            </a:r>
          </a:p>
        </p:txBody>
      </p:sp>
      <p:sp>
        <p:nvSpPr>
          <p:cNvPr id="3" name="Rectangle 2"/>
          <p:cNvSpPr/>
          <p:nvPr/>
        </p:nvSpPr>
        <p:spPr>
          <a:xfrm>
            <a:off x="960120" y="4389120"/>
            <a:ext cx="2011680" cy="19050"/>
          </a:xfrm>
          <a:prstGeom prst="rect">
            <a:avLst/>
          </a:prstGeom>
          <a:solidFill>
            <a:srgbClr val="1DB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4709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98A1B6"/>
                </a:solidFill>
                <a:latin typeface="Menlo"/>
              </a:rPr>
              <a:t>video/samjha_demo.mp4   ·   RIME_EVIDENCE.md   ·   evals/ACCEPTANCE.md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