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7600" b="1">
                <a:solidFill>
                  <a:srgbClr val="F2F5FB"/>
                </a:solidFill>
                <a:latin typeface="Helvetica Neue"/>
              </a:rPr>
              <a:t>SAMJHA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0">
                <a:solidFill>
                  <a:srgbClr val="1DB954"/>
                </a:solidFill>
                <a:latin typeface="Kohinoor Devanagari"/>
              </a:rPr>
              <a:t>समझा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160520"/>
            <a:ext cx="201168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2F5FB"/>
                </a:solidFill>
                <a:latin typeface="Helvetica Neue"/>
              </a:rPr>
              <a:t>She cannot read the loan document.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800" b="0">
                <a:solidFill>
                  <a:srgbClr val="F2F5FB"/>
                </a:solidFill>
                <a:latin typeface="Helvetica Neue"/>
              </a:rPr>
              <a:t>So we prove what she heard.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8A1B6"/>
                </a:solidFill>
                <a:latin typeface="Menlo"/>
              </a:rPr>
              <a:t>DataForge × Pathway × 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THE THING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2F5FB"/>
                </a:solidFill>
                <a:latin typeface="Helvetica Neue"/>
              </a:rPr>
              <a:t>She heard 96.6% of the clause.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000" b="1">
                <a:solidFill>
                  <a:srgbClr val="FFB020"/>
                </a:solidFill>
                <a:latin typeface="Helvetica Neue"/>
              </a:rPr>
              <a:t>96.6%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8A1B6"/>
                </a:solidFill>
                <a:latin typeface="Helvetica Neue"/>
              </a:rPr>
              <a:t>of the clause played before she interrupted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FF5C5C"/>
                </a:solidFill>
                <a:latin typeface="Helvetica Neue"/>
              </a:rPr>
              <a:t>CONSENT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F2F5FB"/>
                </a:solidFill>
                <a:latin typeface="Helvetica Neue"/>
              </a:rPr>
              <a:t>The account number lived in the last segment.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F2F5FB"/>
                </a:solidFill>
                <a:latin typeface="Helvetica Neue"/>
              </a:rPr>
              <a:t>That segment never finished.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00" b="0">
                <a:solidFill>
                  <a:srgbClr val="F2F5FB"/>
                </a:solidFill>
                <a:latin typeface="Helvetica Neue"/>
              </a:rPr>
              <a:t>She said yes. The system said no.</a:t>
            </a:r>
          </a:p>
        </p:txBody>
      </p:sp>
      <p:pic>
        <p:nvPicPr>
          <p:cNvPr id="9" name="Picture 8" descr="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57400"/>
            <a:ext cx="5212080" cy="2443162"/>
          </a:xfrm>
          <a:prstGeom prst="rect">
            <a:avLst/>
          </a:prstGeom>
          <a:ln w="12700">
            <a:solidFill>
              <a:srgbClr val="242A3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5989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The sealed record. A refusal is a row, not an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WHY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2F5FB"/>
                </a:solidFill>
                <a:latin typeface="Helvetica Neue"/>
              </a:rPr>
              <a:t>She acknowledges a document she cannot read.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F2F5FB"/>
                </a:solidFill>
                <a:latin typeface="Helvetica Neue"/>
              </a:rPr>
              <a:t>·  RBI: every retail loan needs a Key Facts Statement she understands.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F2F5FB"/>
                </a:solidFill>
                <a:latin typeface="Helvetica Neue"/>
              </a:rPr>
              <a:t>·  In practice: the lender emails a PDF and collects an OTP.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F2F5FB"/>
                </a:solidFill>
                <a:latin typeface="Helvetica Neue"/>
              </a:rPr>
              <a:t>·  The loan was sold on a phone call. There is no screen.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00600"/>
            <a:ext cx="10698480" cy="1905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B020"/>
                </a:solidFill>
                <a:latin typeface="Helvetica Neue"/>
              </a:rPr>
              <a:t>The regulation is satisfied. The borrower is not informed.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98A1B6"/>
                </a:solidFill>
                <a:latin typeface="Helvetica Neue"/>
              </a:rPr>
              <a:t>Remove speech and the product does not degrade — it ceases to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2F5FB"/>
                </a:solidFill>
                <a:latin typeface="Helvetica Neue"/>
              </a:rPr>
              <a:t>Document in. Sealed consent record 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31720"/>
          </a:solidFill>
          <a:ln w="1587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F5FB"/>
                </a:solidFill>
                <a:latin typeface="Helvetica Neue"/>
              </a:rPr>
              <a:t>KFS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PDF or .docx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39507" y="2487168"/>
            <a:ext cx="256032" cy="237744"/>
          </a:xfrm>
          <a:prstGeom prst="rightArrow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50403" y="192024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31720"/>
          </a:solidFill>
          <a:ln w="1587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F5FB"/>
                </a:solidFill>
                <a:latin typeface="Helvetica Neue"/>
              </a:rPr>
              <a:t>PARSE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table grid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no OCR, no 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8390" y="2487168"/>
            <a:ext cx="256032" cy="237744"/>
          </a:xfrm>
          <a:prstGeom prst="rightArrow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9286" y="192024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31720"/>
          </a:solidFill>
          <a:ln w="15875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F5FB"/>
                </a:solidFill>
                <a:latin typeface="Helvetica Neue"/>
              </a:rPr>
              <a:t>SPEAK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Rime Coda /ws3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mulaw 8 kHz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1 value per segment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77273" y="2487168"/>
            <a:ext cx="256032" cy="237744"/>
          </a:xfrm>
          <a:prstGeom prst="rightArrow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8169" y="192024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31720"/>
          </a:solidFill>
          <a:ln w="15875">
            <a:solidFill>
              <a:srgbClr val="24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F5FB"/>
                </a:solidFill>
                <a:latin typeface="Helvetica Neue"/>
              </a:rPr>
              <a:t>CALL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LiveKit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/c/{id} · one tap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Sarvam hears her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96156" y="2487168"/>
            <a:ext cx="256032" cy="237744"/>
          </a:xfrm>
          <a:prstGeom prst="rightArrow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7052" y="192024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31720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F5FB"/>
                </a:solidFill>
                <a:latin typeface="Helvetica Neue"/>
              </a:rPr>
              <a:t>RECORD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sha256-sealed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98A1B6"/>
                </a:solidFill>
                <a:latin typeface="Menlo"/>
              </a:rPr>
              <a:t>+ doc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28655" cy="2057400"/>
          </a:xfrm>
          <a:prstGeom prst="roundRect">
            <a:avLst>
              <a:gd name="adj" fmla="val 6000"/>
            </a:avLst>
          </a:prstGeom>
          <a:solidFill>
            <a:srgbClr val="131720"/>
          </a:solidFill>
          <a:ln w="19050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DB954"/>
                </a:solidFill>
                <a:latin typeface="Helvetica Neue"/>
              </a:rPr>
              <a:t>THE ONE EDGE THAT IS THE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51960"/>
            <a:ext cx="2313432" cy="1234440"/>
          </a:xfrm>
          <a:prstGeom prst="roundRect">
            <a:avLst>
              <a:gd name="adj" fmla="val 8000"/>
            </a:avLst>
          </a:prstGeom>
          <a:solidFill>
            <a:srgbClr val="0B0D12"/>
          </a:solidFill>
          <a:ln w="15875">
            <a:solidFill>
              <a:srgbClr val="1DB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F5FB"/>
                </a:solidFill>
                <a:latin typeface="Helvetica Neue"/>
              </a:rPr>
              <a:t>Rime's bytes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8000 B = 1.000 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exact, not estimated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319272" y="4759452"/>
            <a:ext cx="237744" cy="219456"/>
          </a:xfrm>
          <a:prstGeom prst="rightArrow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2736" y="4251960"/>
            <a:ext cx="2313432" cy="1234440"/>
          </a:xfrm>
          <a:prstGeom prst="roundRect">
            <a:avLst>
              <a:gd name="adj" fmla="val 8000"/>
            </a:avLst>
          </a:prstGeom>
          <a:solidFill>
            <a:srgbClr val="0B0D12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F5FB"/>
                </a:solidFill>
                <a:latin typeface="Helvetica Neue"/>
              </a:rPr>
              <a:t>HEARD?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did THIS number's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segment finish?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61888" y="4759452"/>
            <a:ext cx="237744" cy="219456"/>
          </a:xfrm>
          <a:prstGeom prst="rightArrow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4251960"/>
            <a:ext cx="2313432" cy="1234440"/>
          </a:xfrm>
          <a:prstGeom prst="roundRect">
            <a:avLst>
              <a:gd name="adj" fmla="val 8000"/>
            </a:avLst>
          </a:prstGeom>
          <a:solidFill>
            <a:srgbClr val="0B0D12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F5FB"/>
                </a:solidFill>
                <a:latin typeface="Helvetica Neue"/>
              </a:rPr>
              <a:t>UNDERSTOOD?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she says it back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in her own words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04504" y="4759452"/>
            <a:ext cx="237744" cy="219456"/>
          </a:xfrm>
          <a:prstGeom prst="rightArrow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87968" y="4251960"/>
            <a:ext cx="2313432" cy="1234440"/>
          </a:xfrm>
          <a:prstGeom prst="roundRect">
            <a:avLst>
              <a:gd name="adj" fmla="val 8000"/>
            </a:avLst>
          </a:prstGeom>
          <a:solidFill>
            <a:srgbClr val="0B0D12"/>
          </a:solidFill>
          <a:ln w="15875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F5FB"/>
                </a:solidFill>
                <a:latin typeface="Helvetica Neue"/>
              </a:rPr>
              <a:t>REFUSED / RECORDED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both true, every value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98A1B6"/>
                </a:solidFill>
                <a:latin typeface="Menlo"/>
              </a:rPr>
              <a:t>or consent is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8A1B6"/>
                </a:solidFill>
                <a:latin typeface="Helvetica Neue"/>
              </a:rPr>
              <a:t>No vendor word timestamps — Rime emits none for Hindi. No model in the loop. Arithmetic over Rime's own output, cross-checked against LiveKit's measured playout.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8800" b="1">
                <a:solidFill>
                  <a:srgbClr val="1DB954"/>
                </a:solidFill>
                <a:latin typeface="Helvetica Neue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Upload a real KFS  ·  take the call in Hindi  ·  interrupt the account number  ·  read the refusal</a:t>
            </a:r>
          </a:p>
        </p:txBody>
      </p:sp>
      <p:pic>
        <p:nvPicPr>
          <p:cNvPr id="4" name="Picture 3" descr="intake_cla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3429000" cy="2143125"/>
          </a:xfrm>
          <a:prstGeom prst="rect">
            <a:avLst/>
          </a:prstGeom>
          <a:ln w="12700">
            <a:solidFill>
              <a:srgbClr val="242A3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5087493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/ — the officer</a:t>
            </a:r>
          </a:p>
        </p:txBody>
      </p:sp>
      <p:pic>
        <p:nvPicPr>
          <p:cNvPr id="6" name="Picture 5" descr="borrower_rea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2834640"/>
            <a:ext cx="3429000" cy="2143125"/>
          </a:xfrm>
          <a:prstGeom prst="rect">
            <a:avLst/>
          </a:prstGeom>
          <a:ln w="12700">
            <a:solidFill>
              <a:srgbClr val="242A3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44568" y="5087493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/c/{id} — the borrower</a:t>
            </a:r>
          </a:p>
        </p:txBody>
      </p:sp>
      <p:pic>
        <p:nvPicPr>
          <p:cNvPr id="8" name="Picture 7" descr="after_barge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834640"/>
            <a:ext cx="3429000" cy="2143125"/>
          </a:xfrm>
          <a:prstGeom prst="rect">
            <a:avLst/>
          </a:prstGeom>
          <a:ln w="12700">
            <a:solidFill>
              <a:srgbClr val="242A3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66176" y="5087493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/panel — the evidence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THE MECHANIC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2F5FB"/>
                </a:solidFill>
                <a:latin typeface="Helvetica Neue"/>
              </a:rPr>
              <a:t>“Heard” is arithmetic, not a claim.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600" b="1">
                <a:solidFill>
                  <a:srgbClr val="1DB954"/>
                </a:solidFill>
                <a:latin typeface="Menlo"/>
              </a:rPr>
              <a:t>8000 bytes = 1.000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8A1B6"/>
                </a:solidFill>
                <a:latin typeface="Helvetica Neue"/>
              </a:rPr>
              <a:t>μ-law at 8 kHz is one byte per sample. Exactly.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5852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2F5FB"/>
                </a:solidFill>
                <a:latin typeface="Helvetica Neue"/>
              </a:rPr>
              <a:t>·  One key value per flush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5852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2F5FB"/>
                </a:solidFill>
                <a:latin typeface="Helvetica Neue"/>
              </a:rPr>
              <a:t>·  “Did she hear the APR?” → “did segment k finish?”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37176"/>
            <a:ext cx="5852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2F5FB"/>
                </a:solidFill>
                <a:latin typeface="Helvetica Neue"/>
              </a:rPr>
              <a:t>·  Needs no vendor timestamps. Works in any language.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95544"/>
            <a:ext cx="5852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FFB020"/>
                </a:solidFill>
                <a:latin typeface="Helvetica Neue"/>
              </a:rPr>
              <a:t>·  Barge-in mid-number → the clause is re-read from the start, never resumed.</a:t>
            </a:r>
          </a:p>
        </p:txBody>
      </p:sp>
      <p:pic>
        <p:nvPicPr>
          <p:cNvPr id="11" name="Picture 10" descr="after_barg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4572000" cy="2857500"/>
          </a:xfrm>
          <a:prstGeom prst="rect">
            <a:avLst/>
          </a:prstGeom>
          <a:ln w="12700">
            <a:solidFill>
              <a:srgbClr val="242A3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949440" y="5029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PARTIALLY_HEARD. The value is struck through, and consent is blocked on this clause.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THE MEASURED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2F5FB"/>
                </a:solidFill>
                <a:latin typeface="Helvetica Neue"/>
              </a:rPr>
              <a:t>Value Error Rate on account identifiers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200" b="1">
                <a:solidFill>
                  <a:srgbClr val="1DB954"/>
                </a:solidFill>
                <a:latin typeface="Helvetica Neue"/>
              </a:rPr>
              <a:t>100% → 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8A1B6"/>
                </a:solidFill>
                <a:latin typeface="Helvetica Neue"/>
              </a:rPr>
              <a:t>Deepgram nova-3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200" b="1">
                <a:solidFill>
                  <a:srgbClr val="1DB954"/>
                </a:solidFill>
                <a:latin typeface="Helvetica Neue"/>
              </a:rPr>
              <a:t>75% → 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291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98A1B6"/>
                </a:solidFill>
                <a:latin typeface="Helvetica Neue"/>
              </a:rPr>
              <a:t>Sarvam saaras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8A1B6"/>
                </a:solidFill>
                <a:latin typeface="Helvetica Neue"/>
              </a:rPr>
              <a:t>8 kHz μ-law · model, speaker, lang, sampling rate and timeScaleFactor held constant · both arms are Rime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526280"/>
            <a:ext cx="10058400" cy="1905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FFB020"/>
                </a:solidFill>
                <a:latin typeface="Helvetica Neue"/>
              </a:rPr>
              <a:t>Read that with its 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8A1B6"/>
                </a:solidFill>
                <a:latin typeface="Helvetica Neue"/>
              </a:rPr>
              <a:t>·  n = 24 utterances, 4 per category — not the 120 pre-registered.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8A1B6"/>
                </a:solidFill>
                <a:latin typeface="Helvetica Neue"/>
              </a:rPr>
              <a:t>·  Four of six categories show NO effect. We report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807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8A1B6"/>
                </a:solidFill>
                <a:latin typeface="Helvetica Neue"/>
              </a:rPr>
              <a:t>·  Claim written and committed before any product code existed.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RIME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2F5FB"/>
                </a:solidFill>
                <a:latin typeface="Helvetica Neue"/>
              </a:rPr>
              <a:t>Four things we measured rather than assumed.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F2F5FB"/>
                </a:solidFill>
                <a:latin typeface="Helvetica Neue"/>
              </a:rPr>
              <a:t>·  No Hindi word timestamps — and it fails silently, not loudly.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F2F5FB"/>
                </a:solidFill>
                <a:latin typeface="Helvetica Neue"/>
              </a:rPr>
              <a:t>·  No cancel primitive. Barge-in closes the socket; a warm spare hides the reconnect.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F2F5FB"/>
                </a:solidFill>
                <a:latin typeface="Helvetica Neue"/>
              </a:rPr>
              <a:t>·  The LiveKit plugin hardcodes pcm, so 8 kHz μ-law is unreachable through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FFB020"/>
                </a:solidFill>
                <a:latin typeface="Helvetica Neue"/>
              </a:rPr>
              <a:t>·  /ws3 has no per-flush event. Pipeline the flushes and every chunk is attributed to segment 0. This one bit us in production.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52160"/>
            <a:ext cx="10881360" cy="19050"/>
          </a:xfrm>
          <a:prstGeom prst="rect">
            <a:avLst/>
          </a:prstGeom>
          <a:solidFill>
            <a:srgbClr val="2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coda / taru / hi · mulaw 8000 · segment=never + explicit flush · timeScaleFactor 1.0, speedAlpha never sent   —   RIME_EVIDENCE.md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8A1B6"/>
                </a:solidFill>
                <a:latin typeface="Helvetica Neue"/>
              </a:rPr>
              <a:t>WHAT WE DO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B020"/>
                </a:solidFill>
                <a:latin typeface="Helvetica Neue"/>
              </a:rPr>
              <a:t>Stated before the results, not after.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46304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·  The telephone channel is SIMULATED. No live PSTN leg.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07792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·  “Heard” means played out of the speaker. We measure playout, not cognition.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21024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·  Hindi only — Coda is the only Rime model with Hindi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34256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·  Tables, not pictures. A photographed KFS is refused, not guessed 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47488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·  No authentication. A call link is a bearer capability.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98A1B6"/>
                </a:solidFill>
                <a:latin typeface="Helvetica Neue"/>
              </a:rPr>
              <a:t>·  The human listening panel has not been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F2F5FB"/>
                </a:solidFill>
                <a:latin typeface="Helvetica Neue"/>
              </a:rPr>
              <a:t>Remove speech and the product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F2F5FB"/>
                </a:solidFill>
                <a:latin typeface="Helvetica Neue"/>
              </a:rPr>
              <a:t>does not degrade — it ceases to exist.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794760"/>
            <a:ext cx="2011680" cy="1905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2F5FB"/>
                </a:solidFill>
                <a:latin typeface="Menlo"/>
              </a:rPr>
              <a:t>uv sync  &amp;&amp;  make test        # 421 tests, no key needed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2F5FB"/>
                </a:solidFill>
                <a:latin typeface="Menlo"/>
              </a:rPr>
              <a:t>make stage                    # GO / NO-GO before a live call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2F5FB"/>
                </a:solidFill>
                <a:latin typeface="Menlo"/>
              </a:rPr>
              <a:t>make e2e ARGS="--drive"       # upload → Rime → FSM → assert the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8A1B6"/>
                </a:solidFill>
                <a:latin typeface="Helvetica Neue"/>
              </a:rPr>
              <a:t>README.md (architecture + executive summary) · RIME_EVIDENCE.md · evals/ACCEPTANCE.md · video/samjha_demo.mp4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